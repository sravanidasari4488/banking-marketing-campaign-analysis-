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502920"/>
            <a:ext cx="1097280" cy="1097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0" y="502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Portuguese Bank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Deposit Marketing Campaign Analysis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3429000"/>
            <a:ext cx="27432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&amp; Key Insights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4160520"/>
            <a:ext cx="219456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17880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45,216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45537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Clients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66160" y="4160520"/>
            <a:ext cx="219456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66160" y="417880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66160" y="45537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4160520"/>
            <a:ext cx="219456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417880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2008–2010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45537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Period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Banking Industry · Data Science Case Project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 &amp; Key Questions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marketing campaign data from a Portuguese bank (May 2008 – Nov 2010). Goal: predict if a client will subscribe to a term deposit (variable y). Data includes demographics, financial profile, and campaign interaction details.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3840480" cy="2377440"/>
          </a:xfrm>
          <a:prstGeom prst="rect">
            <a:avLst/>
          </a:prstGeom>
          <a:solidFill>
            <a:srgbClr val="F1F9FA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Client Variables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job, marital status, education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balance, housing &amp; personal loans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9443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default status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37413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type (cellular / telephone)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1691640"/>
            <a:ext cx="3840480" cy="2377440"/>
          </a:xfrm>
          <a:prstGeom prst="rect">
            <a:avLst/>
          </a:prstGeom>
          <a:solidFill>
            <a:srgbClr val="F1F9FA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Campaign Variables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20848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contact: day, month, duration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0" y="2514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campaign contacts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29443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previous campaign contact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337413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campaign outcome → y (target)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42245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Class Imbalance: Only 11.7% of clients subscribed — making precise targeting critical for campaign ROI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Demographics</a:t>
            </a:r>
            <a:endParaRPr lang="en-US" sz="2200" dirty="0"/>
          </a:p>
        </p:txBody>
      </p:sp>
      <p:pic>
        <p:nvPicPr>
          <p:cNvPr id="4" name="Image 0" descr="/home/claude/charts/age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530352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33756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Age Distribution (Mean: 40.9 yrs)</a:t>
            </a:r>
            <a:endParaRPr lang="en-US" sz="900" dirty="0"/>
          </a:p>
        </p:txBody>
      </p:sp>
      <p:pic>
        <p:nvPicPr>
          <p:cNvPr id="6" name="Image 1" descr="/home/claude/charts/marital_ed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611880"/>
            <a:ext cx="8595360" cy="1417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5010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Marital status &amp; education distribution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669280" y="731520"/>
            <a:ext cx="3200400" cy="2560320"/>
          </a:xfrm>
          <a:prstGeom prst="rect">
            <a:avLst/>
          </a:prstGeom>
          <a:solidFill>
            <a:srgbClr val="F1F9FA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760720" y="777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Demographics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806440" y="11155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 range: 18–95 years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806440" y="1463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group: Blue-collar (21.5%)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806440" y="18105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60.3% of clients are married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806440" y="21579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51.3% have secondary education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806440" y="250545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Singles convert 49% more than married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806440" y="28529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Tertiary educated: 15% conversion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 Rate by Occupation</a:t>
            </a:r>
            <a:endParaRPr lang="en-US" sz="2200" dirty="0"/>
          </a:p>
        </p:txBody>
      </p:sp>
      <p:pic>
        <p:nvPicPr>
          <p:cNvPr id="4" name="Image 0" descr="/home/claude/charts/sub_by_jo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594360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731520"/>
            <a:ext cx="2468880" cy="4297680"/>
          </a:xfrm>
          <a:prstGeom prst="rect">
            <a:avLst/>
          </a:prstGeom>
          <a:solidFill>
            <a:srgbClr val="F1F9FA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92240" y="795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92240" y="1188720"/>
            <a:ext cx="22860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37960" y="1197864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680960" y="1197864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28.7%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92240" y="1709928"/>
            <a:ext cx="22860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1719072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680960" y="1719072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22.9%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92240" y="2231136"/>
            <a:ext cx="2286000" cy="411480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37960" y="2240280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Unemployed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680960" y="2240280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15.5%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92240" y="2752344"/>
            <a:ext cx="2286000" cy="411480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2761488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680960" y="2761488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92240" y="3273552"/>
            <a:ext cx="2286000" cy="411480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37960" y="3282696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680960" y="3282696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12.2%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9224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Performers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537960" y="41605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Blue-collar: 7.3%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Entrepreneur: 8.3%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74320" y="3749040"/>
            <a:ext cx="5943600" cy="68580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3767328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Students &amp; retirees convert at 2–3× the average rate — highest-priority target segments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Timing &amp; Call Analysis</a:t>
            </a:r>
            <a:endParaRPr lang="en-US" sz="2200" dirty="0"/>
          </a:p>
        </p:txBody>
      </p:sp>
      <p:pic>
        <p:nvPicPr>
          <p:cNvPr id="4" name="Image 0" descr="/home/claude/charts/sub_mon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859536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12724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Monthly conversion rates — Mar/Sep/Oct/Dec far outperform the rest</a:t>
            </a:r>
            <a:endParaRPr lang="en-US" sz="900" dirty="0"/>
          </a:p>
        </p:txBody>
      </p:sp>
      <p:pic>
        <p:nvPicPr>
          <p:cNvPr id="6" name="Image 1" descr="/home/claude/charts/duration_s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383280"/>
            <a:ext cx="5486400" cy="1600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43600" y="3383280"/>
            <a:ext cx="2926080" cy="1600200"/>
          </a:xfrm>
          <a:prstGeom prst="rect">
            <a:avLst/>
          </a:prstGeom>
          <a:solidFill>
            <a:srgbClr val="F1F9FA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035040" y="342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Duration Insight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035040" y="3767328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Subscribers: avg 537 sec (~9 min)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Non-subscribers: avg 221 sec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Correlation with y: 0.394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Strongest single predictor!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Behavioural Predictors of Subscription</a:t>
            </a:r>
            <a:endParaRPr lang="en-US" sz="2200" dirty="0"/>
          </a:p>
        </p:txBody>
      </p:sp>
      <p:pic>
        <p:nvPicPr>
          <p:cNvPr id="4" name="Image 0" descr="/home/claude/charts/pout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4572000" cy="2286000"/>
          </a:xfrm>
          <a:prstGeom prst="rect">
            <a:avLst/>
          </a:prstGeom>
        </p:spPr>
      </p:pic>
      <p:pic>
        <p:nvPicPr>
          <p:cNvPr id="5" name="Image 1" descr="/home/claude/charts/correl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154680"/>
            <a:ext cx="4572000" cy="19202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0" y="731520"/>
            <a:ext cx="3840480" cy="2286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029200" y="8686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64.8%</a:t>
            </a:r>
            <a:endParaRPr lang="en-US" sz="5200" dirty="0"/>
          </a:p>
        </p:txBody>
      </p:sp>
      <p:sp>
        <p:nvSpPr>
          <p:cNvPr id="8" name="Text 4"/>
          <p:cNvSpPr/>
          <p:nvPr/>
        </p:nvSpPr>
        <p:spPr>
          <a:xfrm>
            <a:off x="5120640" y="1783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for clients who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succeeded in a previous campaign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120640" y="2377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9.2% for unknown prior outcome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029200" y="3154680"/>
            <a:ext cx="3840480" cy="1920240"/>
          </a:xfrm>
          <a:prstGeom prst="rect">
            <a:avLst/>
          </a:prstGeom>
          <a:solidFill>
            <a:srgbClr val="F1F9FA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20640" y="3218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Summary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166360" y="35935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Duration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8046720" y="35935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+0.394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166360" y="3886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Contact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8046720" y="38862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+0.104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166360" y="41788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Contacts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8046720" y="417880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+0.094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166360" y="44714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Balance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8046720" y="447141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+0.053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5166360" y="47640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Calls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8046720" y="47640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−0.073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Profile &amp; Loan Impact</a:t>
            </a:r>
            <a:endParaRPr lang="en-US" sz="2200" dirty="0"/>
          </a:p>
        </p:txBody>
      </p:sp>
      <p:pic>
        <p:nvPicPr>
          <p:cNvPr id="4" name="Image 0" descr="/home/claude/charts/lo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5943600" cy="2651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731520"/>
            <a:ext cx="2468880" cy="2651760"/>
          </a:xfrm>
          <a:prstGeom prst="rect">
            <a:avLst/>
          </a:prstGeom>
          <a:solidFill>
            <a:srgbClr val="F1F9FA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92240" y="777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Stats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92240" y="11704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589520" y="117043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€1,362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92240" y="15544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589520" y="1554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€449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92240" y="19385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75th pct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0" y="19385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€1,428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92240" y="232257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589520" y="232257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−€8,019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92240" y="270662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89520" y="270662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€102,127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92240" y="31272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right-skewed: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wealthy clients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mean above median</a:t>
            </a:r>
            <a:endParaRPr lang="en-US" sz="900" dirty="0"/>
          </a:p>
        </p:txBody>
      </p:sp>
      <p:pic>
        <p:nvPicPr>
          <p:cNvPr id="18" name="Image 1" descr="/home/claude/charts/subscription_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429000"/>
            <a:ext cx="2743200" cy="164592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3200400" y="3429000"/>
            <a:ext cx="5669280" cy="1645920"/>
          </a:xfrm>
          <a:prstGeom prst="rect">
            <a:avLst/>
          </a:prstGeom>
          <a:solidFill>
            <a:srgbClr val="F1F9FA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291840" y="34930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Impact on Subscriptions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337560" y="3822192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Clients WITHOUT housing loan: 16.7% conversion rate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Clients WITH housing loan: 7.7% conversion rate  (−54%)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Clients WITHOUT personal loan: 12.7% conversion rate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21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Clients WITH personal loan: 6.7% conversion rate  (−47%)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234440"/>
          </a:xfrm>
          <a:prstGeom prst="rect">
            <a:avLst/>
          </a:prstGeom>
          <a:solidFill>
            <a:srgbClr val="0D4F5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9611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8961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Re-target Previous Successes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261872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64.8% conversion for prior successes — create a fast-track pipeline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206240" cy="1234440"/>
          </a:xfrm>
          <a:prstGeom prst="rect">
            <a:avLst/>
          </a:prstGeom>
          <a:solidFill>
            <a:srgbClr val="0D4F5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89611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40680" y="89611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Campaign Timing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40680" y="1261872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budget to Mar / Sep / Oct / Dec for 2–4× better ROI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4206240" cy="1234440"/>
          </a:xfrm>
          <a:prstGeom prst="rect">
            <a:avLst/>
          </a:prstGeom>
          <a:solidFill>
            <a:srgbClr val="0D4F5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31343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📞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60120" y="231343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Cellular Outreach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679192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14.9% conversion vs 4.1% for unknown — eliminate missing contacts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240280"/>
            <a:ext cx="4206240" cy="1234440"/>
          </a:xfrm>
          <a:prstGeom prst="rect">
            <a:avLst/>
          </a:prstGeom>
          <a:solidFill>
            <a:srgbClr val="0D4F5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31343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🧑‍🎓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40680" y="231343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Students &amp; Retirees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0680" y="2679192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28.7% and 22.9% rates — most responsive demographic segments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4206240" cy="1234440"/>
          </a:xfrm>
          <a:prstGeom prst="rect">
            <a:avLst/>
          </a:prstGeom>
          <a:solidFill>
            <a:srgbClr val="0D4F5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73075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60120" y="373075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Call Duration Live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4096512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over 5 min signal high intent — train agents to maintain quality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206240" cy="1234440"/>
          </a:xfrm>
          <a:prstGeom prst="rect">
            <a:avLst/>
          </a:prstGeom>
          <a:solidFill>
            <a:srgbClr val="0D4F5A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73075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40680" y="373075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Excessive Contacts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40680" y="4096512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2–3 calls per client reduces conversion — implement hard limits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8DADC"/>
                </a:solidFill>
              </a:rPr>
              <a:t>Banking Industry · Case Project · Data Science Analysis of Portuguese Bank Marketing Campaign (45,216 records, 2008–2010)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645920"/>
          </a:xfrm>
          <a:prstGeom prst="rect">
            <a:avLst/>
          </a:prstGeom>
          <a:solidFill>
            <a:srgbClr val="021B1E"/>
          </a:solidFill>
          <a:ln w="12700">
            <a:solidFill>
              <a:srgbClr val="021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Portuguese Bank — Term Deposit Campaign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Summary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45,216 clients analyzed · 11.7% subscription rate · Top predictor: Call Duration (r=0.394)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segments: Students &amp; Retirees · Best months: March, September, October, December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1B1E"/>
                </a:solidFill>
              </a:rPr>
              <a:t>Banking Industry · Data Science Case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Portuguese Bank Marketing Campaign Analysis</dc:title>
  <dc:subject>PptxGenJS Presentation</dc:subject>
  <dc:creator>PptxGenJS</dc:creator>
  <cp:lastModifiedBy>PptxGenJS</cp:lastModifiedBy>
  <cp:revision>1</cp:revision>
  <dcterms:created xsi:type="dcterms:W3CDTF">2026-05-30T07:22:37Z</dcterms:created>
  <dcterms:modified xsi:type="dcterms:W3CDTF">2026-05-30T07:22:37Z</dcterms:modified>
</cp:coreProperties>
</file>